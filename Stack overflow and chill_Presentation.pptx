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Interactions</c:v>
                </c:pt>
              </c:strCache>
            </c:strRef>
          </c:tx>
          <c:invertIfNegative val="1"/>
          <c:cat>
            <c:strRef>
              <c:f>Sheet1!$A$2:$A$3</c:f>
              <c:strCache>
                <c:ptCount val="2"/>
                <c:pt idx="0">
                  <c:v>Views</c:v>
                </c:pt>
                <c:pt idx="1">
                  <c:v>Add-to-Cart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2708</c:v>
                </c:pt>
                <c:pt idx="1">
                  <c:v>945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FF-42C4-A24C-D01C5DA7A4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Interactions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Laundry</c:v>
                </c:pt>
                <c:pt idx="1">
                  <c:v>Orange Juice</c:v>
                </c:pt>
                <c:pt idx="2">
                  <c:v>Noodles</c:v>
                </c:pt>
                <c:pt idx="3">
                  <c:v>Bath Soap</c:v>
                </c:pt>
                <c:pt idx="4">
                  <c:v>Pasta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254</c:v>
                </c:pt>
                <c:pt idx="1">
                  <c:v>239</c:v>
                </c:pt>
                <c:pt idx="2">
                  <c:v>239</c:v>
                </c:pt>
                <c:pt idx="3">
                  <c:v>180</c:v>
                </c:pt>
                <c:pt idx="4">
                  <c:v>161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D1-4869-8F9E-2700033217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9096" y="0"/>
            <a:ext cx="12191695" cy="68580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56616" y="329184"/>
            <a:ext cx="551202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78D2C8"/>
                </a:solidFill>
              </a:defRPr>
            </a:pPr>
            <a:r>
              <a:rPr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CLINKT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Problem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3885" y="1766364"/>
            <a:ext cx="5780557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FFFFFF"/>
                </a:solidFill>
              </a:defRPr>
            </a:pPr>
            <a:r>
              <a:rPr dirty="0"/>
              <a:t>Customer • Order • Product • Inventory</a:t>
            </a:r>
            <a:r>
              <a:rPr lang="en-US" dirty="0"/>
              <a:t> </a:t>
            </a:r>
            <a:r>
              <a:rPr lang="en-IN" dirty="0"/>
              <a:t>• </a:t>
            </a:r>
            <a:r>
              <a:rPr lang="en-US" dirty="0"/>
              <a:t>Behavior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Based on the uploaded Vibehack/Clinkt analysis dataset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AF37D3-E5AC-7CCB-5336-BB696F750E8F}"/>
              </a:ext>
            </a:extLst>
          </p:cNvPr>
          <p:cNvSpPr txBox="1"/>
          <p:nvPr/>
        </p:nvSpPr>
        <p:spPr>
          <a:xfrm>
            <a:off x="403884" y="2181862"/>
            <a:ext cx="86303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Objective:</a:t>
            </a:r>
            <a:b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 analyze </a:t>
            </a:r>
            <a:r>
              <a:rPr lang="en-US" sz="1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Clinkt’s</a:t>
            </a: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business data and identify the major problems affecting sales, customer experience, product conversion, order value, and inventory availability.</a:t>
            </a:r>
          </a:p>
          <a:p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Four Components </a:t>
            </a:r>
            <a:r>
              <a:rPr lang="en-US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Analysed</a:t>
            </a:r>
            <a:endParaRPr lang="en-US" sz="16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👤 Customer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🛒 Order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📦 Inventory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🛍️ Product </a:t>
            </a:r>
          </a:p>
          <a:p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Key Business Question</a:t>
            </a:r>
          </a:p>
          <a:p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How can </a:t>
            </a:r>
            <a:r>
              <a:rPr lang="en-US" sz="1600" b="1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Clinkt</a:t>
            </a: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use its existing customer, order, product and inventory data to increase sales and improve customer experience?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Dataset Size:</a:t>
            </a:r>
            <a:endParaRPr lang="en-US" sz="1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200 Customers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36 Products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279 Orders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3,653 Customer Interactions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1,116 Inventory Records 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42"/>
                </a:solidFill>
              </a:defRPr>
            </a:pPr>
            <a:r>
              <a:t>1. Overall Business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What the data tells us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453895"/>
            <a:ext cx="22951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67E22"/>
                </a:solidFill>
              </a:defRPr>
            </a:pPr>
            <a:r>
              <a:t>₹173.52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Average Order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3258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8728" y="1453895"/>
            <a:ext cx="22951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C67B5"/>
                </a:solidFill>
              </a:defRPr>
            </a:pPr>
            <a:r>
              <a:t>394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116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Units Sold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258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453895"/>
            <a:ext cx="22951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9187"/>
                </a:solidFill>
              </a:defRPr>
            </a:pPr>
            <a:r>
              <a:t>2,708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116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3258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08008" y="1453895"/>
            <a:ext cx="22951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77D57"/>
                </a:solidFill>
              </a:defRPr>
            </a:pPr>
            <a:r>
              <a:t>945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011680"/>
            <a:ext cx="2331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8"/>
                </a:solidFill>
              </a:defRPr>
            </a:pPr>
            <a:r>
              <a:t>Add-to-Cart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80360"/>
            <a:ext cx="3474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2880360"/>
            <a:ext cx="73152" cy="2423160"/>
          </a:xfrm>
          <a:prstGeom prst="rect">
            <a:avLst/>
          </a:prstGeom>
          <a:solidFill>
            <a:srgbClr val="2C6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026664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410712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200 customers generated 279 orders. Customer segments show different spending behaviour, creating an opportunity for targeted retention and repeat-order strategies.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880360"/>
            <a:ext cx="3474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2880360"/>
            <a:ext cx="73152" cy="2423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4568" y="3026664"/>
            <a:ext cx="164179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rPr dirty="0"/>
              <a:t>Order</a:t>
            </a:r>
            <a:r>
              <a:rPr lang="en-US" dirty="0"/>
              <a:t> + Behavior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4544568" y="3410712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rPr dirty="0"/>
              <a:t>AOV is ₹173.52. Increasing basket size through bundles, cross-selling and minimum-order offers can improve revenue per order.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880360"/>
            <a:ext cx="3474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2880360"/>
            <a:ext cx="73152" cy="2423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3608" y="3026664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Product + Inventory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410712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High-interest products do not always translate into strong sales, while some high-demand products have low/critical stock.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Source: Vibehack / Clinkt data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42"/>
                </a:solidFill>
              </a:defRPr>
            </a:pPr>
            <a:r>
              <a:t>2. Customer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Customers are not ordering frequently enough; segments behave differently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73152" cy="1325880"/>
          </a:xfrm>
          <a:prstGeom prst="rect">
            <a:avLst/>
          </a:prstGeom>
          <a:solidFill>
            <a:srgbClr val="2C6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26463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1051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279 orders from 200 customers indicates repeat-order potential. The Regular segment contributes ₹25,222 from 138 orders, while Premium contributes ₹6,496 from 43 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78892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788920"/>
            <a:ext cx="73152" cy="1325880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93522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What we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31927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Customer value is uneven across Budget, Family, Premium and Regular segments. A single promotion strategy may not work equally well for all segments.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297680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4297680"/>
            <a:ext cx="73152" cy="1325880"/>
          </a:xfrm>
          <a:prstGeom prst="rect">
            <a:avLst/>
          </a:prstGeom>
          <a:solidFill>
            <a:srgbClr val="5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" y="444398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What we ruled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828032"/>
            <a:ext cx="4846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The dataset does not show a single customer-level reason for non-repeat ordering, so we should not claim a specific cause such as poor service.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28016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1280160"/>
            <a:ext cx="73152" cy="1965960"/>
          </a:xfrm>
          <a:prstGeom prst="rect">
            <a:avLst/>
          </a:prstGeom>
          <a:solidFill>
            <a:srgbClr val="2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1426463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810512"/>
            <a:ext cx="49377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• Segment-based offers</a:t>
            </a:r>
            <a:br/>
            <a:r>
              <a:t>• Reorder reminders for repeat-use products</a:t>
            </a:r>
            <a:br/>
            <a:r>
              <a:t>• Loyalty points / rewards</a:t>
            </a:r>
            <a:br/>
            <a:r>
              <a:t>• Personalized product suggestions</a:t>
            </a:r>
            <a:br/>
            <a:r>
              <a:t>• Win-back offers for inactive customers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520440"/>
            <a:ext cx="53035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3520440"/>
            <a:ext cx="73152" cy="2103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3666744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Business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050791"/>
            <a:ext cx="493775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Higher repeat purchases → stronger customer retention → more orders without relying only on new customer acquisition.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Source: Vibehack / Clinkt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42"/>
                </a:solidFill>
              </a:defRPr>
            </a:pPr>
            <a:r>
              <a:t>3. Order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318760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rPr b="1" dirty="0"/>
              <a:t>Low average order value limits revenue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56231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₹48,412 revenue across 279 orders gives an AOV of ₹173.52.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832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3383280"/>
            <a:ext cx="73152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352958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91363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Customers may be placing relatively small baskets. This reduces revenue generated per successful checkout.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1325880"/>
            <a:ext cx="73152" cy="1828800"/>
          </a:xfrm>
          <a:prstGeom prst="rect">
            <a:avLst/>
          </a:prstGeom>
          <a:solidFill>
            <a:srgbClr val="5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147218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What we ruled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1856231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The data does not prove that delivery fees, payment issues or checkout friction are the reason for low AOV.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3832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3383280"/>
            <a:ext cx="73152" cy="1828800"/>
          </a:xfrm>
          <a:prstGeom prst="rect">
            <a:avLst/>
          </a:prstGeom>
          <a:solidFill>
            <a:srgbClr val="2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98848" y="352958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91363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Use combo packs, cross-selling, cart recommendations and minimum-order benefits to increase basket size.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35640" y="2194560"/>
            <a:ext cx="685800" cy="777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F6978"/>
                </a:solidFill>
              </a:defRPr>
            </a:pPr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001000" y="2173986"/>
            <a:ext cx="347472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91856" y="2194560"/>
            <a:ext cx="73152" cy="1783080"/>
          </a:xfrm>
          <a:prstGeom prst="rect">
            <a:avLst/>
          </a:prstGeom>
          <a:solidFill>
            <a:srgbClr val="2391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75321" y="2290571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rPr dirty="0"/>
              <a:t>Expected Impact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2168" y="2681478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rPr dirty="0"/>
              <a:t>More items per order + better product discovery = higher revenue per customer visit.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Source: Vibehack / Clinkt data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42"/>
                </a:solidFill>
              </a:defRPr>
            </a:pPr>
            <a:r>
              <a:t>4. Inventory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High-demand products are reaching low or critical stock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3152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3807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Pasta 500 g (P015)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6479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24 units sold; current stock 9. The analysis flags it for URGENT RESTOCK.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73152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3807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Instant Noodles (P013)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76479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17 units sold; current stock 4. The product has spent 11 days in Critical status.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2344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234440"/>
            <a:ext cx="73152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380744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Bath Soap (P030)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76479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15 units sold; current stock 0, creating a direct availability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83280"/>
            <a:ext cx="51663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383280"/>
            <a:ext cx="73152" cy="1874519"/>
          </a:xfrm>
          <a:prstGeom prst="rect">
            <a:avLst/>
          </a:prstGeom>
          <a:solidFill>
            <a:srgbClr val="5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529584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What we ruled 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913632"/>
            <a:ext cx="480060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Not every product has a stock problem. Several products show healthy stock, so the issue is selective inventory imbalance rather than a universal shortage.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383280"/>
            <a:ext cx="53492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80760" y="3383280"/>
            <a:ext cx="73152" cy="1874519"/>
          </a:xfrm>
          <a:prstGeom prst="rect">
            <a:avLst/>
          </a:prstGeom>
          <a:solidFill>
            <a:srgbClr val="2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40780" y="344728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rPr dirty="0"/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722930"/>
            <a:ext cx="51663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rPr dirty="0"/>
              <a:t>Set minimum stock/reorder points, automate low-stock alerts, prioritize high-demand SKUs and mark unavailable products clearly.</a:t>
            </a:r>
            <a:endParaRPr lang="en-US" dirty="0"/>
          </a:p>
          <a:p>
            <a:br>
              <a:rPr lang="en-US" dirty="0"/>
            </a:br>
            <a:r>
              <a:rPr lang="en-US" sz="1050" b="1" dirty="0"/>
              <a:t>Why It Matters</a:t>
            </a:r>
          </a:p>
          <a:p>
            <a:r>
              <a:rPr lang="en-US" sz="1050" dirty="0"/>
              <a:t>When a customer wants a product but it is unavailable: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The order may be lost.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The customer may choose a substitute.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dirty="0"/>
              <a:t>The customer may move to another delivery platform.</a:t>
            </a:r>
          </a:p>
          <a:p>
            <a:pPr>
              <a:defRPr sz="1250">
                <a:solidFill>
                  <a:srgbClr val="232A34"/>
                </a:solidFill>
              </a:defRPr>
            </a:pPr>
            <a:endParaRPr dirty="0"/>
          </a:p>
        </p:txBody>
      </p:sp>
      <p:sp>
        <p:nvSpPr>
          <p:cNvPr id="25" name="Rectangle 24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Source: Vibehack / Clinkt data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42"/>
                </a:solidFill>
              </a:defRPr>
            </a:pPr>
            <a:r>
              <a:t>5. Demand–Inventory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Customer interest is high for some products, but sales/stock do not keep 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642"/>
                </a:solidFill>
              </a:defRPr>
            </a:pPr>
            <a: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234440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642"/>
                </a:solidFill>
              </a:defRPr>
            </a:pPr>
            <a:r>
              <a:t>Interactions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234440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642"/>
                </a:solidFill>
              </a:defRPr>
            </a:pPr>
            <a:r>
              <a:t>Units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234440"/>
            <a:ext cx="2423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642"/>
                </a:solidFill>
              </a:defRPr>
            </a:pPr>
            <a:r>
              <a:t>Current Stock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81965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Laundry Detergent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3736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81965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254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73736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81965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73736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0" y="181965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46888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255117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Orange Juice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46888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255117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239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246888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255117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246888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0" y="255117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20040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28269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Instant Noodles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320040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0" y="328269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239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320040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0" y="328269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17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320040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78240" y="328269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93192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401421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Pasta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393192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0" y="401421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161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393192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0" y="401421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24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3931920"/>
            <a:ext cx="24231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778240" y="4014216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800600"/>
            <a:ext cx="5074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31520" y="4800600"/>
            <a:ext cx="73152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4946904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Key Signal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5330952"/>
            <a:ext cx="4709159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Laundry Detergent has the highest interaction volume (254) but only 6 units sold.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60" y="4800600"/>
            <a:ext cx="52120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080760" y="4800600"/>
            <a:ext cx="73152" cy="1051560"/>
          </a:xfrm>
          <a:prstGeom prst="rect">
            <a:avLst/>
          </a:prstGeom>
          <a:solidFill>
            <a:srgbClr val="2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81928" y="4946904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Action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81928" y="5330952"/>
            <a:ext cx="484632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Connect interaction data to inventory planning: high interest + low conversion + low stock should trigger review.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Source: Vibehack / Clinkt data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42"/>
                </a:solidFill>
              </a:defRPr>
            </a:pPr>
            <a:r>
              <a:t>6. Product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Many views do not become cart additions or purchases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25880"/>
          <a:ext cx="48463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806440" y="1325880"/>
            <a:ext cx="5486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06440" y="1325880"/>
            <a:ext cx="73152" cy="1417320"/>
          </a:xfrm>
          <a:prstGeom prst="rect">
            <a:avLst/>
          </a:prstGeom>
          <a:solidFill>
            <a:srgbClr val="2C6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07607" y="1472184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7607" y="1856231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2,708 Views vs 945 Add-to-Cart interactions shows a large drop before cart addition.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2971800"/>
            <a:ext cx="5486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06440" y="2971800"/>
            <a:ext cx="73152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07607" y="3118104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7607" y="3502152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Customers are showing interest, but many product interactions do not progress toward purchase.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4617720"/>
            <a:ext cx="5486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06440" y="4617720"/>
            <a:ext cx="73152" cy="1417320"/>
          </a:xfrm>
          <a:prstGeom prst="rect">
            <a:avLst/>
          </a:prstGeom>
          <a:solidFill>
            <a:srgbClr val="2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07607" y="4764024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7607" y="5148072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Improve ratings/reviews, product information, offers, best-seller labels and personalized recommendations.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Source: Vibehack / Clinkt data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42"/>
                </a:solidFill>
              </a:defRPr>
            </a:pPr>
            <a:r>
              <a:t>7. Product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8"/>
                </a:solidFill>
              </a:defRPr>
            </a:pPr>
            <a:r>
              <a:t>Repeated interest and uneven product performance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3444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280160"/>
            <a:ext cx="4937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73152" cy="1325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1968" y="1426463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Example: Laundry Detergent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81051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254 interactions and 129 unique customers, but only 6 units sold and ₹990 revenue.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4937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2834640"/>
            <a:ext cx="73152" cy="1325880"/>
          </a:xfrm>
          <a:prstGeom prst="rect">
            <a:avLst/>
          </a:prstGeom>
          <a:solidFill>
            <a:srgbClr val="5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01968" y="2980944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What we ruled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36499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High interaction does not automatically mean the product is a top seller. The data also does not prove price is the reason for low conversion.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389120"/>
            <a:ext cx="4937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4389120"/>
            <a:ext cx="73152" cy="1325880"/>
          </a:xfrm>
          <a:prstGeom prst="rect">
            <a:avLst/>
          </a:prstGeom>
          <a:solidFill>
            <a:srgbClr val="2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4535424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642"/>
                </a:solidFill>
              </a:defRPr>
            </a:pPr>
            <a:r>
              <a:t>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4919472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232A34"/>
                </a:solidFill>
              </a:defRPr>
            </a:pPr>
            <a:r>
              <a:t>Test clearer value messaging, alternatives, targeted offers and substitute recommendations for repeated viewers.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Source: Vibehack / Clinkt data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642"/>
                </a:solidFill>
              </a:defRPr>
            </a:pPr>
            <a:r>
              <a:t>8. Business Impact &amp; What We Ruled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2402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307592"/>
            <a:ext cx="20391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642"/>
                </a:solidFill>
              </a:defRPr>
            </a:pPr>
            <a:r>
              <a:t>Increase sales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234440"/>
            <a:ext cx="4069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35808" y="1307592"/>
            <a:ext cx="38679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</a:defRPr>
            </a:pPr>
            <a:r>
              <a:t>Keep high-demand products available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234440"/>
            <a:ext cx="4069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42048" y="1307592"/>
            <a:ext cx="38679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</a:defRPr>
            </a:pPr>
            <a:r>
              <a:t>More completed purchases and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39112"/>
            <a:ext cx="22402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112264"/>
            <a:ext cx="20391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642"/>
                </a:solidFill>
              </a:defRPr>
            </a:pPr>
            <a:r>
              <a:t>Higher conversion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039112"/>
            <a:ext cx="4069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5808" y="2112264"/>
            <a:ext cx="38679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</a:defRPr>
            </a:pPr>
            <a:r>
              <a:t>Reduce drop-offs from product interest to cart/order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2039112"/>
            <a:ext cx="4069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42048" y="2112264"/>
            <a:ext cx="38679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</a:defRPr>
            </a:pPr>
            <a:r>
              <a:t>Better use of existing traffic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843784"/>
            <a:ext cx="22402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2916936"/>
            <a:ext cx="20391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642"/>
                </a:solidFill>
              </a:defRPr>
            </a:pPr>
            <a:r>
              <a:t>Fewer stock-outs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2843784"/>
            <a:ext cx="4069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35808" y="2916936"/>
            <a:ext cx="38679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</a:defRPr>
            </a:pPr>
            <a:r>
              <a:t>Reorder based on demand signals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843784"/>
            <a:ext cx="4069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42048" y="2916936"/>
            <a:ext cx="38679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</a:defRPr>
            </a:pPr>
            <a:r>
              <a:t>Lower lost-sales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48456"/>
            <a:ext cx="22402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" y="3721608"/>
            <a:ext cx="20391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642"/>
                </a:solidFill>
              </a:defRPr>
            </a:pPr>
            <a:r>
              <a:t>Higher retention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3648456"/>
            <a:ext cx="4069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35808" y="3721608"/>
            <a:ext cx="38679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</a:defRPr>
            </a:pPr>
            <a:r>
              <a:t>Segment-based offers + reliable availability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0" y="3648456"/>
            <a:ext cx="4069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42048" y="3721608"/>
            <a:ext cx="38679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</a:defRPr>
            </a:pPr>
            <a:r>
              <a:t>More repeat orders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453128"/>
            <a:ext cx="22402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4088" y="4526280"/>
            <a:ext cx="20391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82642"/>
                </a:solidFill>
              </a:defRPr>
            </a:pPr>
            <a:r>
              <a:t>Better inventory efficiency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4453128"/>
            <a:ext cx="4069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35808" y="4526280"/>
            <a:ext cx="38679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</a:defRPr>
            </a:pPr>
            <a:r>
              <a:t>Prioritize critical/high-demand SKUs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4453128"/>
            <a:ext cx="40690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42048" y="4526280"/>
            <a:ext cx="386791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4"/>
                </a:solidFill>
              </a:defRPr>
            </a:pPr>
            <a:r>
              <a:t>Less imbalance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Source: Vibehack/Clinkt analysis; impact statements are recommendations/inferences from the observed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9. Final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78D2C8"/>
                </a:solidFill>
              </a:defRPr>
            </a:pPr>
            <a:r>
              <a:t>CLINKT SMART DEMAND &amp; DELIVERY SYSTEM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7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31343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642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22199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2219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Segment customers and trigger personalized offers/reorder reminders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7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1363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642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04495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04495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Identify high-interest/low-conversion products and improve conversion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7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95935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642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6791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86791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Use demand signals + reorder points to prevent stock-outs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709160"/>
            <a:ext cx="502920" cy="502920"/>
          </a:xfrm>
          <a:prstGeom prst="ellipse">
            <a:avLst/>
          </a:prstGeom>
          <a:solidFill>
            <a:srgbClr val="78D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78231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642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690872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69087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Use bundles, cross-sell and minimum-order benefits to lift AOV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623560"/>
            <a:ext cx="10698480" cy="640080"/>
          </a:xfrm>
          <a:prstGeom prst="roundRect">
            <a:avLst/>
          </a:prstGeom>
          <a:solidFill>
            <a:srgbClr val="243756"/>
          </a:solidFill>
          <a:ln>
            <a:solidFill>
              <a:srgbClr val="506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577900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Goal: More available products → more conversions → larger baskets → more repeat orders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0528"/>
            <a:ext cx="11155680" cy="18288"/>
          </a:xfrm>
          <a:prstGeom prst="rect">
            <a:avLst/>
          </a:prstGeom>
          <a:solidFill>
            <a:srgbClr val="DC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8"/>
                </a:solidFill>
              </a:defRPr>
            </a:pPr>
            <a:r>
              <a:t>Source: Vibehack / Clinkt data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1052</Words>
  <Application>Microsoft Office PowerPoint</Application>
  <PresentationFormat>Widescreen</PresentationFormat>
  <Paragraphs>159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VIBEHACK</dc:creator>
  <cp:keywords/>
  <dc:description>generated using python-pptx</dc:description>
  <cp:lastModifiedBy>VIBEHACK</cp:lastModifiedBy>
  <cp:revision>2</cp:revision>
  <dcterms:created xsi:type="dcterms:W3CDTF">2013-01-27T09:14:16Z</dcterms:created>
  <dcterms:modified xsi:type="dcterms:W3CDTF">2026-09-02T11:00:57Z</dcterms:modified>
  <cp:category/>
</cp:coreProperties>
</file>